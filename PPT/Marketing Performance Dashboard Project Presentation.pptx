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9838A-CE11-43A4-BBC2-6C122DEE13F5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08803-5D7B-482A-A8AC-FF8359294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18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techstarmahesh/marketing-compaign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MARKETING PERFORMANCE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B9CA"/>
                </a:solidFill>
              </a:defRPr>
            </a:pPr>
            <a:r>
              <a:t>Data Analytics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6BEDC"/>
                </a:solidFill>
              </a:defRPr>
            </a:pPr>
            <a:r>
              <a:t>Interactive Customer &amp; Campaign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b="1" dirty="0"/>
              <a:t>Group Members: </a:t>
            </a:r>
            <a:r>
              <a:rPr dirty="0"/>
              <a:t>Prakhar Singh &amp; Suneel Mahor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b="1" dirty="0"/>
              <a:t>Technology:</a:t>
            </a:r>
            <a:r>
              <a:rPr dirty="0"/>
              <a:t> Python, Pandas, NumPy, </a:t>
            </a:r>
            <a:r>
              <a:rPr dirty="0" err="1"/>
              <a:t>Plotly</a:t>
            </a:r>
            <a:r>
              <a:rPr dirty="0"/>
              <a:t>, </a:t>
            </a:r>
            <a:r>
              <a:rPr dirty="0" err="1"/>
              <a:t>Streamlit</a:t>
            </a:r>
            <a:r>
              <a:rPr dirty="0"/>
              <a:t>, Scikit-learn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b="1" dirty="0"/>
              <a:t>Dataset:</a:t>
            </a:r>
            <a:r>
              <a:rPr lang="en-IN" b="1" dirty="0"/>
              <a:t> </a:t>
            </a:r>
            <a:r>
              <a:rPr dirty="0"/>
              <a:t> 2,240 records × 29 raw columns</a:t>
            </a:r>
            <a:r>
              <a:rPr lang="en-IN" dirty="0"/>
              <a:t> (</a:t>
            </a:r>
            <a:r>
              <a:rPr lang="en-IN" sz="1700" dirty="0">
                <a:solidFill>
                  <a:srgbClr val="F5F7FA"/>
                </a:solidFill>
              </a:rPr>
              <a:t>Dataset Source: </a:t>
            </a:r>
            <a:r>
              <a:rPr lang="en-IN" sz="1700" dirty="0">
                <a:solidFill>
                  <a:srgbClr val="F5F7FA"/>
                </a:solidFill>
                <a:hlinkClick r:id="rId2"/>
              </a:rPr>
              <a:t>Kaggle – Marketing Campaign Dataset</a:t>
            </a:r>
            <a:r>
              <a:rPr lang="en-IN" sz="1700" dirty="0">
                <a:solidFill>
                  <a:srgbClr val="F5F7FA"/>
                </a:solidFill>
              </a:rPr>
              <a:t>)</a:t>
            </a:r>
            <a:endParaRPr dirty="0"/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b="1" dirty="0"/>
              <a:t>Prepared for:</a:t>
            </a:r>
            <a:r>
              <a:rPr dirty="0"/>
              <a:t> </a:t>
            </a:r>
            <a:r>
              <a:rPr dirty="0" err="1"/>
              <a:t>SkillOrbit</a:t>
            </a:r>
            <a:r>
              <a:rPr dirty="0"/>
              <a:t> Data Analytics Capstone Project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rPr lang="en-IN" dirty="0"/>
              <a:t>28</a:t>
            </a:r>
            <a:r>
              <a:rPr lang="en-IN" baseline="30000" dirty="0"/>
              <a:t>th</a:t>
            </a:r>
            <a:r>
              <a:rPr lang="en-IN" dirty="0"/>
              <a:t> </a:t>
            </a:r>
            <a:r>
              <a:rPr dirty="0"/>
              <a:t>September</a:t>
            </a:r>
            <a:r>
              <a:rPr lang="en-IN" dirty="0"/>
              <a:t>,</a:t>
            </a:r>
            <a:r>
              <a:rPr dirty="0"/>
              <a:t>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rPr dirty="0" err="1"/>
              <a:t>SkillOrbit</a:t>
            </a:r>
            <a:r>
              <a:rPr dirty="0"/>
              <a:t> • Marketing Performance Dashboard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Analyze customer marketing and purchase behaviour.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Clean and transform raw customer data into reliable analytical features.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Calculate customer, purchase and campaign-response KPIs.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Compare demographics, product spending and purchase channels.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Use K-Means clustering to identify behavioural customer segments.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Present results through an interactive Streamlit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SkillOrbit • Marketing Performance Dashboard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Dataset &amp; Data 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560320" cy="132588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63039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RAW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2,240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29 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25880"/>
            <a:ext cx="2560320" cy="132588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463039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CLEANED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64792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2,236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3172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35 analytical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2560320" cy="132588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463039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REFERENCE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64792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2014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3172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Age calculated consistently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325880"/>
            <a:ext cx="2560320" cy="132588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1463039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MISSING INCOME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764792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33172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filled with median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632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Duplicate records checked and removed.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Dt_Customer converted to date format.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Missing Income values filled using median.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Invalid Year_Birth values below 1920 removed.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Income values above $200,000 excluded as an outlier.</a:t>
            </a:r>
          </a:p>
          <a:p>
            <a:pPr>
              <a:spcAft>
                <a:spcPts val="1000"/>
              </a:spcAft>
              <a:defRPr sz="1500">
                <a:solidFill>
                  <a:srgbClr val="F5F7FA"/>
                </a:solidFill>
              </a:defRPr>
            </a:pPr>
            <a:r>
              <a:t>Engineered Age, Total_Spending, Total_Purchases, Total_Campaign_Accepted and Total_Children.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SkillOrbit • Marketing Performance Dashboard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514600" cy="141732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2,236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79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final cleaned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514600" cy="141732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50876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TOTAL SPENDING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105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$1,354,986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79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final cleaned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2514600" cy="141732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AVG SPENDING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105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$606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68879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final cleaned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371600"/>
            <a:ext cx="2514600" cy="141732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39" y="150876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AVG PURCHASES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18105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12.5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39" y="2468879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final cleaned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00400"/>
            <a:ext cx="2514600" cy="141732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33756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LATEST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6393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14.94%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97680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final cleaned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200400"/>
            <a:ext cx="2514600" cy="141732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0" y="333756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AVG INCOME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6393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$51,953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297680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final cleaned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200400"/>
            <a:ext cx="2514600" cy="141732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333756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CAMPAIGN ACCEPTANCE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6393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5.96%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297680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final cleaned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59" y="3200400"/>
            <a:ext cx="2514600" cy="141732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39" y="333756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COMPLAINT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39" y="36393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0.89%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39" y="4297680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final cleaned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166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6BEDC"/>
                </a:solidFill>
              </a:defRPr>
            </a:pPr>
            <a:r>
              <a:t>Note: the dataset has no ad impressions, ad clicks, advertising cost, reach or advertising revenue; therefore genuine CTR, advertising conversion rate and ROI are not calculated.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SkillOrbit • Marketing Performance Dashboard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Demographic analysis: Education, Marital Status and Age distribution.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Customer value analysis: Income and Total Spending.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Product analysis: Wines, Fruits, Meat, Fish, Sweets and Gold products.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Purchase-channel analysis: Web, Catalog and Store purchases.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Campaign analysis: acceptance across five previous campaigns and latest campaign response.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Correlation analysis identifies observed relationships and is not interpreted as causation.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SkillOrbit • Marketing Performance Dashboard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Campaign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383280" cy="132588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39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HIGHEST ACCEPTANCE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Campaign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167 accepted 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32588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463039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HIGHEST ACCEPTANCE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64792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7.47%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among Campaigns 1–5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383280" cy="132588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463039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LATEST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764792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334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31720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14.94% response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Campaign 4 has the highest previous-campaign acceptance rate in the cleaned dataset.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Campaign 2 has the lowest previous-campaign acceptance rate.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The latest Response field is treated as campaign response, not as advertising sales conversion.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SkillOrbit • Marketing Performance Dashboard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Customer Segmentation — K-Means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560320" cy="132588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63039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SELECTED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highest silhouette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325880"/>
            <a:ext cx="2560320" cy="132588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1463039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SILHOUETTE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764792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0.381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3172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K tested: 2–8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2286000" cy="132588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39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SEGMENT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64792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1,023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Avg spend $1,157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25880"/>
            <a:ext cx="2286000" cy="132588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1463039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SEGMENT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764792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1,213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33172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Avg spend $141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246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Segment 0 shows substantially higher average spending and purchase activity.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Segment 1 contains more customers but has lower average spending per customer.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Clusters are behavioural groupings produced from standardized analytical features.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SkillOrbit • Marketing Performance Dashboard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Business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166360" cy="114300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63039"/>
            <a:ext cx="4800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INSIGHT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520459"/>
            <a:ext cx="5105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rPr dirty="0"/>
              <a:t>Wines has the highest total product spending at $680,029.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observed in cleaned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166360" cy="114300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463039"/>
            <a:ext cx="4800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INSIGHT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9840" y="1512659"/>
            <a:ext cx="5166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rPr dirty="0"/>
              <a:t>Store has the highest purchase volume with 12,959 purchases.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observed in cleaned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43200"/>
            <a:ext cx="5166360" cy="114300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4800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INSIGHT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979600"/>
            <a:ext cx="49834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rPr dirty="0"/>
              <a:t>Campaign 4 has the highest previous-campaign acceptance count.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observed in cleaned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166360" cy="114300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880360"/>
            <a:ext cx="4800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INSIGHT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320" y="2943023"/>
            <a:ext cx="5105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rPr dirty="0"/>
              <a:t>Segment 0 has the highest average spending per customer at $1,157.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observed in cleaned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60520"/>
            <a:ext cx="5166360" cy="114300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4800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INSIGHT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4370160"/>
            <a:ext cx="50749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rPr dirty="0"/>
              <a:t>Segment 0 has the highest latest-campaign response rate at 21.60%.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83480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observed in cleaned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160520"/>
            <a:ext cx="5166360" cy="114300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297680"/>
            <a:ext cx="4800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INSIGHT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9840" y="4411980"/>
            <a:ext cx="49834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rPr dirty="0"/>
              <a:t>Web visits and web purchases have an observed correlation of -0.06.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983480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observed in cleaned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SkillOrbit • Marketing Performance Dashboard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Use product-level spending patterns to guide further product-focused marketing analysis.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Compare the highest-volume purchase channel with customer characteristics and purchase frequency.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Investigate campaign-level acceptance differences before changing campaign strategy.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Profile the higher-spending customer segment before designing targeted customer strategies.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Compare segment response behaviour to understand patterns associated with campaign response.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Collect impressions, clicks, advertising cost, reach and attributed revenue in future datasets for genuine CTR/ROI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SkillOrbit • Marketing Performance Dashboard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Interactive Streamlit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5212080" cy="96012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19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KPIs + demographic distributions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interactive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96012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417319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CUSTOMER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Age, income, spending and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interactive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14600"/>
            <a:ext cx="5212080" cy="96012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651760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SPENDING &amp; 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53512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Products + Web/Catalog/Store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54679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interactive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514600"/>
            <a:ext cx="5212080" cy="96012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651760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CAMPAIGN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53512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Acceptance + latest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54679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interactive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49039"/>
            <a:ext cx="5212080" cy="96012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886200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187952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K-Means profiles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89120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interactive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749039"/>
            <a:ext cx="5212080" cy="96012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3886200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BUSINESS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87952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Dynamic findings +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389120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interactive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983480"/>
            <a:ext cx="5212080" cy="960120"/>
          </a:xfrm>
          <a:prstGeom prst="roundRect">
            <a:avLst/>
          </a:prstGeom>
          <a:solidFill>
            <a:srgbClr val="191F2F"/>
          </a:solidFill>
          <a:ln>
            <a:solidFill>
              <a:srgbClr val="37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120640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FB9CA"/>
                </a:solidFill>
              </a:defRPr>
            </a:pPr>
            <a:r>
              <a:t>DATA EXPLORER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422392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7FA"/>
                </a:solidFill>
              </a:defRPr>
            </a:pPr>
            <a:r>
              <a:t>Filterable customer-level 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623560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interactive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SkillOrbit • Marketing Performance Dashboard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Technology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Python — data processing and analytical logic.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Pandas / NumPy — cleaning and feature engineering.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Plotly — interactive visualisation.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Streamlit — dashboard application and filters.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Scikit-learn — StandardScaler, K-Means and silhouette scoring.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Workflow: Data Collection → Cleaning → EDA/KPI Analysis → K-Means → Dashboard → Business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SkillOrbit • Marketing Performance Dashboard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Limitations &amp; Data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No advertising impressions, ad clicks, advertising cost, customer reach or advertising revenue.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Web, Catalog and Store are purchase channels, not advertising platforms such as Instagram or Google Ads.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The Response field represents the latest campaign response available in the dataset.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Correlation is not causation; observed relationships should not be treated as proof of impact.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K-Means segments are data-driven behavioural groupings, not permanent customer identities.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t>SkillOrbit • Marketing Performance Dashboard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The project converts raw customer marketing data into a cleaned analytical dataset and interactive dashboard.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The dashboard combines KPIs, customer behaviour, product spending, purchase channels, campaign response and K-Means segmentation.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The solution reports valid metrics while explicitly documenting unavailable marketing metrics.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Future scope: integrate campaign cost, impressions, clicks and attributed revenue for genuine ROI/CTR analysis.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Future scope: deployment, automated refresh and deeper campaign attribution when suitable data becomes 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6BEDC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FB9CA"/>
                </a:solidFill>
              </a:defRPr>
            </a:pPr>
            <a:r>
              <a:rPr dirty="0" err="1"/>
              <a:t>SkillOrbit</a:t>
            </a:r>
            <a:r>
              <a:rPr dirty="0"/>
              <a:t> • Marketing Performance Dashboard   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1041</Words>
  <Application>Microsoft Office PowerPoint</Application>
  <PresentationFormat>Widescreen</PresentationFormat>
  <Paragraphs>177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Prakhar Singh</cp:lastModifiedBy>
  <cp:revision>7</cp:revision>
  <dcterms:created xsi:type="dcterms:W3CDTF">2013-01-27T09:14:16Z</dcterms:created>
  <dcterms:modified xsi:type="dcterms:W3CDTF">2026-09-28T04:48:18Z</dcterms:modified>
  <cp:category/>
</cp:coreProperties>
</file>